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1055096" cy="18288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8A8175"/>
                </a:solidFill>
                <a:latin typeface="Cascadia Mono"/>
                <a:ea typeface="HarmonyOS Sans SC"/>
              </a:rPr>
              <a:t>RETAIL DECISION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8A8175"/>
                </a:solidFill>
                <a:latin typeface="Cascadia Mono"/>
                <a:ea typeface="HarmonyOS Sans SC"/>
              </a:rPr>
              <a:t>产品介绍 ·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4708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C0392B"/>
                </a:solidFill>
                <a:latin typeface="HarmonyOS Sans SC"/>
                <a:ea typeface="HarmonyOS Sans SC"/>
              </a:rPr>
              <a:t>2026 年 9 月 30 日 · 面向全国连锁零售企业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04288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6600" b="1">
                <a:solidFill>
                  <a:srgbClr val="17161A"/>
                </a:solidFill>
                <a:latin typeface="Noto Serif SC"/>
                <a:ea typeface="HarmonyOS Sans SC"/>
              </a:rPr>
              <a:t>零售经营决策系统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29584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>
                <a:solidFill>
                  <a:srgbClr val="3A3733"/>
                </a:solidFill>
                <a:latin typeface="HarmonyOS Sans SC"/>
                <a:ea typeface="HarmonyOS Sans SC"/>
              </a:rPr>
              <a:t>把「发现 → 归因 → 建议 → 执行」做成一条可审计的自动闭环，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>
                <a:solidFill>
                  <a:srgbClr val="3A3733"/>
                </a:solidFill>
                <a:latin typeface="HarmonyOS Sans SC"/>
                <a:ea typeface="HarmonyOS Sans SC"/>
              </a:rPr>
              <a:t>而不是再给门店加一张报表。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138928"/>
            <a:ext cx="11055096" cy="12801"/>
          </a:xfrm>
          <a:prstGeom prst="rect">
            <a:avLst/>
          </a:prstGeom>
          <a:solidFill>
            <a:srgbClr val="D9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35838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自动发现异常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63270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统计检测主动扫描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6" y="535838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根因分析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563270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九类假设 + 证据链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535838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补货 / 促销建议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563270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约束检查 +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535838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授权范围内执行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5632704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低风险自动 · 高风险审批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在线预览 https://shenyuanyuan77.github.io/retail-decision-agent/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问题 /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3400" b="1">
                <a:solidFill>
                  <a:srgbClr val="17161A"/>
                </a:solidFill>
                <a:latin typeface="Noto Serif SC"/>
                <a:ea typeface="HarmonyOS Sans SC"/>
              </a:rPr>
              <a:t>经营异常每天都在发生，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3400" b="1">
                <a:solidFill>
                  <a:srgbClr val="17161A"/>
                </a:solidFill>
                <a:latin typeface="Noto Serif SC"/>
                <a:ea typeface="HarmonyOS Sans SC"/>
              </a:rPr>
              <a:t>但发现它的人往往不是最该知道的人。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591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>
                <a:solidFill>
                  <a:srgbClr val="6B6660"/>
                </a:solidFill>
                <a:latin typeface="HarmonyOS Sans SC"/>
                <a:ea typeface="HarmonyOS Sans SC"/>
              </a:rPr>
              <a:t>门店靠人巡检、靠经验判断。从异常发生到被处理，中间隔着好几层传递。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99232"/>
            <a:ext cx="11055096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18211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161A"/>
                </a:solidFill>
                <a:latin typeface="Noto Serif SC"/>
                <a:ea typeface="HarmonyOS Sans SC"/>
              </a:rPr>
              <a:t>发现晚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57600"/>
            <a:ext cx="2578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>
                <a:solidFill>
                  <a:srgbClr val="6B6660"/>
                </a:solidFill>
                <a:latin typeface="HarmonyOS Sans SC"/>
                <a:ea typeface="HarmonyOS Sans SC"/>
              </a:rPr>
              <a:t>销量骤降往往在周会报表上才被看到，此时已经损失了数天销量。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81727"/>
            <a:ext cx="2578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0392B"/>
                </a:solidFill>
                <a:latin typeface="Cascadia Mono"/>
                <a:ea typeface="HarmonyOS Sans SC"/>
              </a:rPr>
              <a:t>周报 → 损失数天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6976" y="3182112"/>
            <a:ext cx="12801" cy="173736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318211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161A"/>
                </a:solidFill>
                <a:latin typeface="Noto Serif SC"/>
                <a:ea typeface="HarmonyOS Sans SC"/>
              </a:rPr>
              <a:t>归因难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3657600"/>
            <a:ext cx="2578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>
                <a:solidFill>
                  <a:srgbClr val="6B6660"/>
                </a:solidFill>
                <a:latin typeface="HarmonyOS Sans SC"/>
                <a:ea typeface="HarmonyOS Sans SC"/>
              </a:rPr>
              <a:t>缺货、竞品、天气、客诉都能造成下跌，凭经验猜容易猜错方向。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4681727"/>
            <a:ext cx="2578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0392B"/>
                </a:solidFill>
                <a:latin typeface="Cascadia Mono"/>
                <a:ea typeface="HarmonyOS Sans SC"/>
              </a:rPr>
              <a:t>四类以上混淆因素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182112"/>
            <a:ext cx="12801" cy="173736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318211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161A"/>
                </a:solidFill>
                <a:latin typeface="Noto Serif SC"/>
                <a:ea typeface="HarmonyOS Sans SC"/>
              </a:rPr>
              <a:t>动作慢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3657600"/>
            <a:ext cx="2578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>
                <a:solidFill>
                  <a:srgbClr val="6B6660"/>
                </a:solidFill>
                <a:latin typeface="HarmonyOS Sans SC"/>
                <a:ea typeface="HarmonyOS Sans SC"/>
              </a:rPr>
              <a:t>分析完还要跨部门沟通，等补货到店，窗口期已经过去。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4681727"/>
            <a:ext cx="2578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0392B"/>
                </a:solidFill>
                <a:latin typeface="Cascadia Mono"/>
                <a:ea typeface="HarmonyOS Sans SC"/>
              </a:rPr>
              <a:t>跨部门传递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3103" y="3182112"/>
            <a:ext cx="12801" cy="173736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318211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161A"/>
                </a:solidFill>
                <a:latin typeface="Noto Serif SC"/>
                <a:ea typeface="HarmonyOS Sans SC"/>
              </a:rPr>
              <a:t>不可控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3657600"/>
            <a:ext cx="257860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>
                <a:solidFill>
                  <a:srgbClr val="6B6660"/>
                </a:solidFill>
                <a:latin typeface="HarmonyOS Sans SC"/>
                <a:ea typeface="HarmonyOS Sans SC"/>
              </a:rPr>
              <a:t>就算让系统自动执行，谁来保证它不会做出越界动作。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4681727"/>
            <a:ext cx="2578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C0392B"/>
                </a:solidFill>
                <a:latin typeface="Cascadia Mono"/>
                <a:ea typeface="HarmonyOS Sans SC"/>
              </a:rPr>
              <a:t>缺少硬边界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193792"/>
            <a:ext cx="11055096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413248"/>
            <a:ext cx="11055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7161A"/>
                </a:solidFill>
                <a:latin typeface="Noto Serif SC"/>
                <a:ea typeface="HarmonyOS Sans SC"/>
              </a:rPr>
              <a:t>传统数据看板只回答了「发生了什么」。</a:t>
            </a:r>
            <a:r>
              <a:rPr sz="1600" b="0">
                <a:solidFill>
                  <a:srgbClr val="6B6660"/>
                </a:solidFill>
                <a:latin typeface="HarmonyOS Sans SC"/>
                <a:ea typeface="HarmonyOS Sans SC"/>
              </a:rPr>
              <a:t>  真正缺的是另外三件事：为什么发生、该怎么办、办了之后效果如何。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50 店 · 500 SKU · 180 天 · 每天约 2.8 万个门店-SKU 组合待体检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产品定位 /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6309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700" b="1">
                <a:solidFill>
                  <a:srgbClr val="17161A"/>
                </a:solidFill>
                <a:latin typeface="Noto Serif SC"/>
                <a:ea typeface="HarmonyOS Sans SC"/>
              </a:rPr>
              <a:t>把「发现 → 归因 → 建议 → 执行」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700" b="1">
                <a:solidFill>
                  <a:srgbClr val="17161A"/>
                </a:solidFill>
                <a:latin typeface="Noto Serif SC"/>
                <a:ea typeface="HarmonyOS Sans SC"/>
              </a:rPr>
              <a:t>做成一条自动闭环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50592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6B6660"/>
                </a:solidFill>
                <a:latin typeface="HarmonyOS Sans SC"/>
                <a:ea typeface="HarmonyOS Sans SC"/>
              </a:rPr>
              <a:t>并让每一步都可审计。接入门店、销售、库存供应链、会员、客服与外部数据六大系统。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723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Noto Serif SC"/>
                <a:ea typeface="HarmonyOS Sans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044952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7161A"/>
                </a:solidFill>
                <a:latin typeface="HarmonyOS Sans SC"/>
                <a:ea typeface="HarmonyOS Sans SC"/>
              </a:rPr>
              <a:t>自动发现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72384"/>
            <a:ext cx="3529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持续扫描销售数据，主动发现销量异常，无需人工发起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0704" y="3602736"/>
            <a:ext cx="5303520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78561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Noto Serif SC"/>
                <a:ea typeface="HarmonyOS Sans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758183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7161A"/>
                </a:solidFill>
                <a:latin typeface="HarmonyOS Sans SC"/>
                <a:ea typeface="HarmonyOS Sans SC"/>
              </a:rPr>
              <a:t>根因分析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85615"/>
            <a:ext cx="3529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对每个异常并行验证九类假设，输出带证据链与置信度的根因 Top3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" y="4315968"/>
            <a:ext cx="5303520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4988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Noto Serif SC"/>
                <a:ea typeface="HarmonyOS Sans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4471416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7161A"/>
                </a:solidFill>
                <a:latin typeface="HarmonyOS Sans SC"/>
                <a:ea typeface="HarmonyOS Sans SC"/>
              </a:rPr>
              <a:t>建议生成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98848"/>
            <a:ext cx="3529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按根因匹配打法库，生成补货或促销建议，含约束检查与成本收益估算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" y="5029200"/>
            <a:ext cx="5303520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21207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Noto Serif SC"/>
                <a:ea typeface="HarmonyOS Sans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5184647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7161A"/>
                </a:solidFill>
                <a:latin typeface="HarmonyOS Sans SC"/>
                <a:ea typeface="HarmonyOS Sans SC"/>
              </a:rPr>
              <a:t>授权执行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212079"/>
            <a:ext cx="3529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低风险动作自动执行，高风险动作强制转人工审批，全程留痕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1133856"/>
            <a:ext cx="4718304" cy="301752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408176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Serif SC"/>
                <a:ea typeface="HarmonyOS Sans SC"/>
              </a:rPr>
              <a:t>设计立场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1828800"/>
            <a:ext cx="4169663" cy="12801"/>
          </a:xfrm>
          <a:prstGeom prst="rect">
            <a:avLst/>
          </a:prstGeom>
          <a:solidFill>
            <a:srgbClr val="4A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2011680"/>
            <a:ext cx="4169663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400" b="0">
                <a:solidFill>
                  <a:srgbClr val="C9C2B8"/>
                </a:solidFill>
                <a:latin typeface="HarmonyOS Sans SC"/>
                <a:ea typeface="HarmonyOS Sans SC"/>
              </a:rPr>
              <a:t>系统不以「自动化」为唯一目标。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400" b="0">
                <a:solidFill>
                  <a:srgbClr val="C9C2B8"/>
                </a:solidFill>
                <a:latin typeface="HarmonyOS Sans SC"/>
                <a:ea typeface="HarmonyOS Sans SC"/>
              </a:rPr>
              <a:t>所有高风险动作的判断权始终留在人手中，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HarmonyOS Sans SC"/>
                <a:ea typeface="HarmonyOS Sans SC"/>
              </a:rPr>
              <a:t>Agent 的服务身份硬上限为 L2。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675887"/>
            <a:ext cx="41696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A8A094"/>
                </a:solidFill>
                <a:latin typeface="Cascadia Mono"/>
                <a:ea typeface="HarmonyOS Sans SC"/>
              </a:rPr>
              <a:t>高风险动作 100% 转人工 · 拒绝同样留痕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4425696"/>
            <a:ext cx="4718304" cy="12801"/>
          </a:xfrm>
          <a:prstGeom prst="rect">
            <a:avLst/>
          </a:prstGeom>
          <a:solidFill>
            <a:srgbClr val="D9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626864"/>
            <a:ext cx="47183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17161A"/>
                </a:solidFill>
                <a:latin typeface="HarmonyOS Sans SC"/>
                <a:ea typeface="HarmonyOS Sans SC"/>
              </a:rPr>
              <a:t>与传统看板的本质区别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看板回答「发生了什么」；本产品回答「为什么、怎么办、效果如何」，并把每一步交给可控可审计的 Agent 执行。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工作方式 /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17161A"/>
                </a:solidFill>
                <a:latin typeface="Noto Serif SC"/>
                <a:ea typeface="HarmonyOS Sans SC"/>
              </a:rPr>
              <a:t>一条异常，七个环节，环环相扣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B6660"/>
                </a:solidFill>
                <a:latin typeface="HarmonyOS Sans SC"/>
                <a:ea typeface="HarmonyOS Sans SC"/>
              </a:rPr>
              <a:t>从被发现，到被验证改善。每一步都留下可审计的痕迹。</a:t>
            </a:r>
          </a:p>
        </p:txBody>
      </p:sp>
      <p:pic>
        <p:nvPicPr>
          <p:cNvPr id="8" name="Picture 7" descr="chart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60" y="2194560"/>
            <a:ext cx="10193030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七个环节由编排器以同一 trace_id 串联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能力 R2 · 感知 / 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17161A"/>
                </a:solidFill>
                <a:latin typeface="Noto Serif SC"/>
                <a:ea typeface="HarmonyOS Sans SC"/>
              </a:rPr>
              <a:t>异常不是猜出来的，是从数据里算出来的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B6660"/>
                </a:solidFill>
                <a:latin typeface="HarmonyOS Sans SC"/>
                <a:ea typeface="HarmonyOS Sans SC"/>
              </a:rPr>
              <a:t>深圳 007 店 · 饮料 C01 · 商品 P00003：前 28 天日销稳定在 10 件，9 月 19 日起连续 12 天归零。</a:t>
            </a:r>
          </a:p>
        </p:txBody>
      </p:sp>
      <p:pic>
        <p:nvPicPr>
          <p:cNvPr id="8" name="Picture 7" descr="chart-sto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73" y="2157984"/>
            <a:ext cx="7713644" cy="30723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85632" y="2157984"/>
            <a:ext cx="3136392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2304288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7161A"/>
                </a:solidFill>
                <a:latin typeface="Noto Serif SC"/>
                <a:ea typeface="HarmonyOS Sans SC"/>
              </a:rPr>
              <a:t>检测算法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72491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7161A"/>
                </a:solidFill>
                <a:latin typeface="HarmonyOS Sans SC"/>
                <a:ea typeface="HarmonyOS Sans SC"/>
              </a:rPr>
              <a:t>建立基线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962656"/>
            <a:ext cx="31363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B6660"/>
                </a:solidFill>
                <a:latin typeface="HarmonyOS Sans SC"/>
                <a:ea typeface="HarmonyOS Sans SC"/>
              </a:rPr>
              <a:t>前 28 天滚动中位数与 MAD（中位数绝对偏差）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2841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7161A"/>
                </a:solidFill>
                <a:latin typeface="HarmonyOS Sans SC"/>
                <a:ea typeface="HarmonyOS Sans SC"/>
              </a:rPr>
              <a:t>逐日打分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566160"/>
            <a:ext cx="31363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B6660"/>
                </a:solidFill>
                <a:latin typeface="HarmonyOS Sans SC"/>
                <a:ea typeface="HarmonyOS Sans SC"/>
              </a:rPr>
              <a:t>近 14 天逐日计算 z-score 与偏差比例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93192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7161A"/>
                </a:solidFill>
                <a:latin typeface="HarmonyOS Sans SC"/>
                <a:ea typeface="HarmonyOS Sans SC"/>
              </a:rPr>
              <a:t>识别异常段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169663"/>
            <a:ext cx="31363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B6660"/>
                </a:solidFill>
                <a:latin typeface="HarmonyOS Sans SC"/>
                <a:ea typeface="HarmonyOS Sans SC"/>
              </a:rPr>
              <a:t>连续 ≥2 天偏离成段，允许 1 天噪声桥接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4535424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7161A"/>
                </a:solidFill>
                <a:latin typeface="HarmonyOS Sans SC"/>
                <a:ea typeface="HarmonyOS Sans SC"/>
              </a:rPr>
              <a:t>输出证据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4773168"/>
            <a:ext cx="31363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B6660"/>
                </a:solidFill>
                <a:latin typeface="HarmonyOS Sans SC"/>
                <a:ea typeface="HarmonyOS Sans SC"/>
              </a:rPr>
              <a:t>基线参数、逐日观测值与库存快照随异常同存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85632" y="5193792"/>
            <a:ext cx="3136392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5340096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HarmonyOS Sans SC"/>
                <a:ea typeface="HarmonyOS Sans SC"/>
              </a:rPr>
              <a:t>用统计而不是大模型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同样的数据必须给出同样的结论。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无需人工发起 · 支持每小时定时扫描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能力 R3 · 诊断 /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17161A"/>
                </a:solidFill>
                <a:latin typeface="Noto Serif SC"/>
                <a:ea typeface="HarmonyOS Sans SC"/>
              </a:rPr>
              <a:t>九类假设逐一验证，只认证据不认感觉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B6660"/>
                </a:solidFill>
                <a:latin typeface="HarmonyOS Sans SC"/>
                <a:ea typeface="HarmonyOS Sans SC"/>
              </a:rPr>
              <a:t>证据 ≥2 条且方向相容者入选；证据不足时显式转人工，不强行给结论。</a:t>
            </a:r>
          </a:p>
        </p:txBody>
      </p:sp>
      <p:pic>
        <p:nvPicPr>
          <p:cNvPr id="8" name="Picture 7" descr="chart-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91" y="2139696"/>
            <a:ext cx="8494192" cy="3383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272016" y="2157984"/>
            <a:ext cx="2350008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72016" y="2304288"/>
            <a:ext cx="23500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7161A"/>
                </a:solidFill>
                <a:latin typeface="Noto Serif SC"/>
                <a:ea typeface="HarmonyOS Sans SC"/>
              </a:rPr>
              <a:t>证据从哪来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2016" y="2724912"/>
            <a:ext cx="23500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每类假设只调用只读工具取数：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库存 · 补货单 · 客服工单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促销活动 · 天气 · 竞品促销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会员复购 · 价格记录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72016" y="3840480"/>
            <a:ext cx="235000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72016" y="3986783"/>
            <a:ext cx="23500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工具返回什么，Agent 就看到什么。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1">
                <a:solidFill>
                  <a:srgbClr val="17161A"/>
                </a:solidFill>
                <a:latin typeface="HarmonyOS Sans SC"/>
                <a:ea typeface="HarmonyOS Sans SC"/>
              </a:rPr>
              <a:t>不直接读底层表。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72016" y="4846320"/>
            <a:ext cx="2350008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5010912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HarmonyOS Sans SC"/>
                <a:ea typeface="HarmonyOS Sans SC"/>
              </a:rPr>
              <a:t>每根因 ≥2 条证据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5321808"/>
            <a:ext cx="23500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证据不足时显式转人工，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不强行给结论。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本页数据来自缺货型异常 ano_a75909439adc 的真实诊断记录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能力 R4 · 决策 /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17161A"/>
                </a:solidFill>
                <a:latin typeface="Noto Serif SC"/>
                <a:ea typeface="HarmonyOS Sans SC"/>
              </a:rPr>
              <a:t>建议卡不是一句话，而是带参数与 ROI 的可执行方案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739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B6660"/>
                </a:solidFill>
                <a:latin typeface="HarmonyOS Sans SC"/>
                <a:ea typeface="HarmonyOS Sans SC"/>
              </a:rPr>
              <a:t>先建议后执行：每个动作都以建议卡形式产生，人能看到它要做什么、值不值。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40864"/>
            <a:ext cx="11055096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7161A"/>
                </a:solidFill>
                <a:latin typeface="HarmonyOS Sans SC"/>
                <a:ea typeface="HarmonyOS Sans SC"/>
              </a:rPr>
              <a:t>补货下单</a:t>
            </a:r>
            <a:r>
              <a:rPr sz="1050" b="0">
                <a:solidFill>
                  <a:srgbClr val="3F6B4A"/>
                </a:solidFill>
                <a:latin typeface="HarmonyOS Sans SC"/>
                <a:ea typeface="HarmonyOS Sans SC"/>
              </a:rPr>
              <a:t>   自动执行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16352"/>
            <a:ext cx="2578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根因 · 缺货 / 供应链延迟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186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预估成本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31729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¥50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9417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预估收益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36484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¥316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169664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4123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scadia Mono"/>
                <a:ea typeface="HarmonyOS Sans SC"/>
              </a:rPr>
              <a:t>6.38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4515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销量恢复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45994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90%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157216"/>
            <a:ext cx="257860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30352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 b="0">
                <a:solidFill>
                  <a:srgbClr val="6B6660"/>
                </a:solidFill>
                <a:latin typeface="Cascadia Mono"/>
                <a:ea typeface="HarmonyOS Sans SC"/>
              </a:rPr>
              <a:t>cover_days ≤ 21  ✓    moq_multiple 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36976" y="2487168"/>
            <a:ext cx="12801" cy="274320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4992" y="24871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7161A"/>
                </a:solidFill>
                <a:latin typeface="HarmonyOS Sans SC"/>
                <a:ea typeface="HarmonyOS Sans SC"/>
              </a:rPr>
              <a:t>补货下单</a:t>
            </a:r>
            <a:r>
              <a:rPr sz="1050" b="0">
                <a:solidFill>
                  <a:srgbClr val="3F6B4A"/>
                </a:solidFill>
                <a:latin typeface="HarmonyOS Sans SC"/>
                <a:ea typeface="HarmonyOS Sans SC"/>
              </a:rPr>
              <a:t>   自动执行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816352"/>
            <a:ext cx="2578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根因 · 自有促销拉动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32186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预估成本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1729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¥36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369417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预估收益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36484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¥67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4169664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ROI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123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scadia Mono"/>
                <a:ea typeface="HarmonyOS Sans SC"/>
              </a:rPr>
              <a:t>1.89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464515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销量恢复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5994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90%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4992" y="5157216"/>
            <a:ext cx="257860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64992" y="530352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 b="0">
                <a:solidFill>
                  <a:srgbClr val="6B6660"/>
                </a:solidFill>
                <a:latin typeface="Cascadia Mono"/>
                <a:ea typeface="HarmonyOS Sans SC"/>
              </a:rPr>
              <a:t>cover_days ≤ 21  ✓    moq_multiple 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487168"/>
            <a:ext cx="12801" cy="274320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6" y="24871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7161A"/>
                </a:solidFill>
                <a:latin typeface="HarmonyOS Sans SC"/>
                <a:ea typeface="HarmonyOS Sans SC"/>
              </a:rPr>
              <a:t>促销活动</a:t>
            </a:r>
            <a:r>
              <a:rPr sz="1050" b="0">
                <a:solidFill>
                  <a:srgbClr val="3F6B4A"/>
                </a:solidFill>
                <a:latin typeface="HarmonyOS Sans SC"/>
                <a:ea typeface="HarmonyOS Sans SC"/>
              </a:rPr>
              <a:t>   自动执行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2816352"/>
            <a:ext cx="2578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根因 · 客诉 / 口碑恶化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32186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预估成本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1729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¥73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3056" y="369417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预估收益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6484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¥78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3056" y="4169664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ROI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123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scadia Mono"/>
                <a:ea typeface="HarmonyOS Sans SC"/>
              </a:rPr>
              <a:t>1.08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63056" y="464515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销量恢复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5994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3056" y="5157216"/>
            <a:ext cx="257860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63056" y="530352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 b="0">
                <a:solidFill>
                  <a:srgbClr val="6B6660"/>
                </a:solidFill>
                <a:latin typeface="Cascadia Mono"/>
                <a:ea typeface="HarmonyOS Sans SC"/>
              </a:rPr>
              <a:t>margin_floor  ✓    discount ≤ 30  ✓    budget ≤ cap  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33103" y="2487168"/>
            <a:ext cx="12801" cy="274320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19" y="24871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7161A"/>
                </a:solidFill>
                <a:latin typeface="HarmonyOS Sans SC"/>
                <a:ea typeface="HarmonyOS Sans SC"/>
              </a:rPr>
              <a:t>促销活动</a:t>
            </a:r>
            <a:r>
              <a:rPr sz="1050" b="0">
                <a:solidFill>
                  <a:srgbClr val="C0392B"/>
                </a:solidFill>
                <a:latin typeface="HarmonyOS Sans SC"/>
                <a:ea typeface="HarmonyOS Sans SC"/>
              </a:rPr>
              <a:t>   需审批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19" y="2816352"/>
            <a:ext cx="25786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根因 · 竞品促销分流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19" y="32186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预估成本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3263" y="31729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¥77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369417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预估收益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13263" y="36484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¥74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19" y="4169664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13263" y="4123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scadia Mono"/>
                <a:ea typeface="HarmonyOS Sans SC"/>
              </a:rPr>
              <a:t>0.96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19" y="464515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8175"/>
                </a:solidFill>
                <a:latin typeface="HarmonyOS Sans SC"/>
                <a:ea typeface="HarmonyOS Sans SC"/>
              </a:rPr>
              <a:t>销量恢复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3263" y="45994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7161A"/>
                </a:solidFill>
                <a:latin typeface="Cascadia Mono"/>
                <a:ea typeface="HarmonyOS Sans SC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19" y="5157216"/>
            <a:ext cx="257860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19" y="5303520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 b="0">
                <a:solidFill>
                  <a:srgbClr val="6B6660"/>
                </a:solidFill>
                <a:latin typeface="Cascadia Mono"/>
                <a:ea typeface="HarmonyOS Sans SC"/>
              </a:rPr>
              <a:t>margin_floor  ✓    discount ≤ 30  ✓    budget ≤ cap  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5797296"/>
            <a:ext cx="11055096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6B6660"/>
                </a:solidFill>
                <a:latin typeface="HarmonyOS Sans SC"/>
                <a:ea typeface="HarmonyOS Sans SC"/>
              </a:rPr>
              <a:t>约束不通过的候选直接丢弃，不进入人工判断 —— 建议约束违反率 0。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数据来源：本机演示系统实跑的 4 张建议卡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能力 R5 · 治理 /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17161A"/>
                </a:solidFill>
                <a:latin typeface="Noto Serif SC"/>
                <a:ea typeface="HarmonyOS Sans SC"/>
              </a:rPr>
              <a:t>自动执行、转人工、直接拒绝：三条通道各有明确边界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739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B6660"/>
                </a:solidFill>
                <a:latin typeface="HarmonyOS Sans SC"/>
                <a:ea typeface="HarmonyOS Sans SC"/>
              </a:rPr>
              <a:t>边界写死在策略里，不依赖执行者的自觉；Agent 服务身份硬上限 L2。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22576"/>
            <a:ext cx="11055096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5112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0392B"/>
                </a:solidFill>
                <a:latin typeface="Noto Serif SC"/>
                <a:ea typeface="HarmonyOS Sans SC"/>
              </a:rPr>
              <a:t>自动执行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52928"/>
            <a:ext cx="3511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低风险 · Agent 授权范围内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55264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常规补货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529584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覆盖天数 ≤21 天，数量取整到 MOQ 倍数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986784"/>
            <a:ext cx="3511296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197096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小额促销 / 临期折价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471416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折扣 ≤10% 且预算 ≤1 万且不破毛利底线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928616"/>
            <a:ext cx="3511296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客服回访任务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413248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针对客诉工单创建，由门店执行整改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870448"/>
            <a:ext cx="3511296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78224" y="2487168"/>
            <a:ext cx="12801" cy="3785615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9392" y="2487168"/>
            <a:ext cx="35112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161A"/>
                </a:solidFill>
                <a:latin typeface="Noto Serif SC"/>
                <a:ea typeface="HarmonyOS Sans SC"/>
              </a:rPr>
              <a:t>转人工审批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2852928"/>
            <a:ext cx="3511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高风险 · L3 风控审批人决定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3255264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折扣超过 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3529584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直接影响毛利与品牌定位，必须由人判断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3986784"/>
            <a:ext cx="3511296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4197096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预算超过 1 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4471416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涉及费用承诺，超出授权额度即转人工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9392" y="4928616"/>
            <a:ext cx="3511296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5138928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任何价格变更 / 跨区调拨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5413248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竞争与合规双重敏感，一律人工确认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5870448"/>
            <a:ext cx="3511296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90687" y="2487168"/>
            <a:ext cx="12801" cy="3785615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1855" y="2487168"/>
            <a:ext cx="35112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8A8175"/>
                </a:solidFill>
                <a:latin typeface="Noto Serif SC"/>
                <a:ea typeface="HarmonyOS Sans SC"/>
              </a:rPr>
              <a:t>直接拒绝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5" y="2852928"/>
            <a:ext cx="35112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L4 禁止 · 策略层拦截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1855" y="3255264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折扣超过 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91855" y="3529584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超出正常经营判断区间，直接拒绝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91855" y="3986784"/>
            <a:ext cx="3511296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91855" y="4197096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预算超过 10 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1855" y="4471416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重大费用支出不属于 Agent 权限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91855" y="4928616"/>
            <a:ext cx="3511296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1855" y="5138928"/>
            <a:ext cx="3511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白名单外的动作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5" y="5413248"/>
            <a:ext cx="3511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只可调用登记在册的写工具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91855" y="5870448"/>
            <a:ext cx="3511296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6254496"/>
            <a:ext cx="11055096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6400800"/>
            <a:ext cx="110550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6B6660"/>
                </a:solidFill>
                <a:latin typeface="HarmonyOS Sans SC"/>
                <a:ea typeface="HarmonyOS Sans SC"/>
              </a:rPr>
              <a:t>执行阶段 Policy Engine 会再校验一次，构成纵深防御；被拒绝的请求同样写入审计日志。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治理 / WRITE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7161A"/>
                </a:solidFill>
                <a:latin typeface="Noto Serif SC"/>
                <a:ea typeface="HarmonyOS Sans SC"/>
              </a:rPr>
              <a:t>写操作四保险：解决重复提交、误操作、无法追责、写错无法回退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9222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B6660"/>
                </a:solidFill>
                <a:latin typeface="HarmonyOS Sans SC"/>
                <a:ea typeface="HarmonyOS Sans SC"/>
              </a:rPr>
              <a:t>所有写接口统一经过一个受控写入入口，业务系统不暴露裸写通道。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59152"/>
            <a:ext cx="11055096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52374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Noto Serif SC"/>
                <a:ea typeface="HarmonyOS Sans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35808"/>
            <a:ext cx="25786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161A"/>
                </a:solidFill>
                <a:latin typeface="Noto Serif SC"/>
                <a:ea typeface="HarmonyOS Sans SC"/>
              </a:rPr>
              <a:t>幂等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93008"/>
            <a:ext cx="25786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6B6660"/>
                </a:solidFill>
                <a:latin typeface="HarmonyOS Sans SC"/>
                <a:ea typeface="HarmonyOS Sans SC"/>
              </a:rPr>
              <a:t>相同幂等键 + 相同请求 → 重放首次结果，不重复下单；键相同但请求不同 → 直接拒绝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010912"/>
            <a:ext cx="257860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5157216"/>
            <a:ext cx="2578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解决：</a:t>
            </a:r>
            <a:r>
              <a:rPr sz="1100" b="1">
                <a:solidFill>
                  <a:srgbClr val="17161A"/>
                </a:solidFill>
                <a:latin typeface="HarmonyOS Sans SC"/>
                <a:ea typeface="HarmonyOS Sans SC"/>
              </a:rPr>
              <a:t>重试与网络抖动导致重复下单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6976" y="2523744"/>
            <a:ext cx="12801" cy="384048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252374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Noto Serif SC"/>
                <a:ea typeface="HarmonyOS Sans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035808"/>
            <a:ext cx="25786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161A"/>
                </a:solidFill>
                <a:latin typeface="Noto Serif SC"/>
                <a:ea typeface="HarmonyOS Sans SC"/>
              </a:rPr>
              <a:t>预演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493008"/>
            <a:ext cx="25786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6B6660"/>
                </a:solidFill>
                <a:latin typeface="HarmonyOS Sans SC"/>
                <a:ea typeface="HarmonyOS Sans SC"/>
              </a:rPr>
              <a:t>任何写入可 dry-run，不落库但仍在审计日志留下一条 dry_run 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4992" y="5010912"/>
            <a:ext cx="257860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5157216"/>
            <a:ext cx="2578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解决：</a:t>
            </a:r>
            <a:r>
              <a:rPr sz="1100" b="1">
                <a:solidFill>
                  <a:srgbClr val="17161A"/>
                </a:solidFill>
                <a:latin typeface="HarmonyOS Sans SC"/>
                <a:ea typeface="HarmonyOS Sans SC"/>
              </a:rPr>
              <a:t>误操作：先看预览再决定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523744"/>
            <a:ext cx="12801" cy="384048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252374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Noto Serif SC"/>
                <a:ea typeface="HarmonyOS Sans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3035808"/>
            <a:ext cx="25786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161A"/>
                </a:solidFill>
                <a:latin typeface="Noto Serif SC"/>
                <a:ea typeface="HarmonyOS Sans SC"/>
              </a:rPr>
              <a:t>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3493008"/>
            <a:ext cx="25786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6B6660"/>
                </a:solidFill>
                <a:latin typeface="HarmonyOS Sans SC"/>
                <a:ea typeface="HarmonyOS Sans SC"/>
              </a:rPr>
              <a:t>成功、拒绝、失败与预演均写审计日志，trace_id 贯穿全链路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5010912"/>
            <a:ext cx="257860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5157216"/>
            <a:ext cx="2578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解决：</a:t>
            </a:r>
            <a:r>
              <a:rPr sz="1100" b="1">
                <a:solidFill>
                  <a:srgbClr val="17161A"/>
                </a:solidFill>
                <a:latin typeface="HarmonyOS Sans SC"/>
                <a:ea typeface="HarmonyOS Sans SC"/>
              </a:rPr>
              <a:t>事后无法回答「谁做了什么」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33103" y="2523744"/>
            <a:ext cx="12801" cy="384048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19" y="252374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Noto Serif SC"/>
                <a:ea typeface="HarmonyOS Sans S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3035808"/>
            <a:ext cx="25786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7161A"/>
                </a:solidFill>
                <a:latin typeface="Noto Serif SC"/>
                <a:ea typeface="HarmonyOS Sans SC"/>
              </a:rPr>
              <a:t>补偿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3493008"/>
            <a:ext cx="25786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00" b="0">
                <a:solidFill>
                  <a:srgbClr val="6B6660"/>
                </a:solidFill>
                <a:latin typeface="HarmonyOS Sans SC"/>
                <a:ea typeface="HarmonyOS Sans SC"/>
              </a:rPr>
              <a:t>补货、调拨、促销、工单均支持补偿回退，库存与单据同步恢复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19" y="5010912"/>
            <a:ext cx="257860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19" y="5157216"/>
            <a:ext cx="2578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解决：</a:t>
            </a:r>
            <a:r>
              <a:rPr sz="1100" b="1">
                <a:solidFill>
                  <a:srgbClr val="17161A"/>
                </a:solidFill>
                <a:latin typeface="HarmonyOS Sans SC"/>
                <a:ea typeface="HarmonyOS Sans SC"/>
              </a:rPr>
              <a:t>写错之后无法回退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受控写入 = 幂等检查 → dry-run 判定 → 真实写入 → 审计留痕 → 失败补偿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实证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17161A"/>
                </a:solidFill>
                <a:latin typeface="Noto Serif SC"/>
                <a:ea typeface="HarmonyOS Sans SC"/>
              </a:rPr>
              <a:t>跑一次 Agent，四步结果全部落库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B6660"/>
                </a:solidFill>
                <a:latin typeface="HarmonyOS Sans SC"/>
                <a:ea typeface="HarmonyOS Sans SC"/>
              </a:rPr>
              <a:t>本机演示系统实跑记录（业务日期 2026-10-07）：41 条异常完成诊断、3 张建议卡、2 条自动执行、1 条转审批。</a:t>
            </a:r>
          </a:p>
        </p:txBody>
      </p:sp>
      <p:pic>
        <p:nvPicPr>
          <p:cNvPr id="8" name="Picture 7" descr="shot-exec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5" y="2121408"/>
            <a:ext cx="6291072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31936" y="2176272"/>
            <a:ext cx="2990088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1936" y="2322576"/>
            <a:ext cx="2990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7161A"/>
                </a:solidFill>
                <a:latin typeface="Noto Serif SC"/>
                <a:ea typeface="HarmonyOS Sans SC"/>
              </a:rPr>
              <a:t>执行记录说明什么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1936" y="2816352"/>
            <a:ext cx="2990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7161A"/>
                </a:solidFill>
                <a:latin typeface="HarmonyOS Sans SC"/>
                <a:ea typeface="HarmonyOS Sans SC"/>
              </a:rPr>
              <a:t>每条执行都关联单据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1936" y="3090672"/>
            <a:ext cx="2990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6B6660"/>
                </a:solidFill>
                <a:latin typeface="HarmonyOS Sans SC"/>
                <a:ea typeface="HarmonyOS Sans SC"/>
              </a:rPr>
              <a:t>补货对应补货单号，促销对应活动编码，可回到业务系统核对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31936" y="3639312"/>
            <a:ext cx="299008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1936" y="3840480"/>
            <a:ext cx="2990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7161A"/>
                </a:solidFill>
                <a:latin typeface="HarmonyOS Sans SC"/>
                <a:ea typeface="HarmonyOS Sans SC"/>
              </a:rPr>
              <a:t>状态机管理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4114800"/>
            <a:ext cx="2990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6B6660"/>
                </a:solidFill>
                <a:latin typeface="HarmonyOS Sans SC"/>
                <a:ea typeface="HarmonyOS Sans SC"/>
              </a:rPr>
              <a:t>待执行 → 执行中 → 成功 / 失败 → 已补偿，失败同样可见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31936" y="4663440"/>
            <a:ext cx="299008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4864608"/>
            <a:ext cx="29900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7161A"/>
                </a:solidFill>
                <a:latin typeface="HarmonyOS Sans SC"/>
                <a:ea typeface="HarmonyOS Sans SC"/>
              </a:rPr>
              <a:t>trace 贯穿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5138928"/>
            <a:ext cx="2990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6B6660"/>
                </a:solidFill>
                <a:latin typeface="HarmonyOS Sans SC"/>
                <a:ea typeface="HarmonyOS Sans SC"/>
              </a:rPr>
              <a:t>每条记录携带 trace_id，可在审计日志还原完整链路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31936" y="5687568"/>
            <a:ext cx="2990088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31936" y="5760720"/>
            <a:ext cx="2990088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1936" y="5907024"/>
            <a:ext cx="2990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HarmonyOS Sans SC"/>
                <a:ea typeface="HarmonyOS Sans SC"/>
              </a:rPr>
              <a:t>每一步都可回溯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其余页面均以重绘图表呈现，保证版式统一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交付 /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17161A"/>
                </a:solidFill>
                <a:latin typeface="Noto Serif SC"/>
                <a:ea typeface="HarmonyOS Sans SC"/>
              </a:rPr>
              <a:t>验收指标全部达标，且都能用命令复现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B6660"/>
                </a:solidFill>
                <a:latin typeface="HarmonyOS Sans SC"/>
                <a:ea typeface="HarmonyOS Sans SC"/>
              </a:rPr>
              <a:t>三类注入异常召回率、根因命中率、约束违反率、审批合规率，均有对应的可执行命令。</a:t>
            </a:r>
          </a:p>
        </p:txBody>
      </p:sp>
      <p:pic>
        <p:nvPicPr>
          <p:cNvPr id="8" name="Picture 7" descr="chart-accep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73" y="2157984"/>
            <a:ext cx="7713644" cy="30723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85632" y="2176272"/>
            <a:ext cx="3136392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2322576"/>
            <a:ext cx="3136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7161A"/>
                </a:solidFill>
                <a:latin typeface="Noto Serif SC"/>
                <a:ea typeface="HarmonyOS Sans SC"/>
              </a:rPr>
              <a:t>复现命令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779776"/>
            <a:ext cx="31363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全量测试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999232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7161A"/>
                </a:solidFill>
                <a:latin typeface="Cascadia Mono"/>
                <a:ea typeface="HarmonyOS Sans SC"/>
              </a:rPr>
              <a:t>pytest tests/ -v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10128"/>
            <a:ext cx="3136392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456432"/>
            <a:ext cx="31363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指标字典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675888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7161A"/>
                </a:solidFill>
                <a:latin typeface="Cascadia Mono"/>
                <a:ea typeface="HarmonyOS Sans SC"/>
              </a:rPr>
              <a:t>python scripts/validate_metrics.py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85632" y="3986784"/>
            <a:ext cx="3136392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4133087"/>
            <a:ext cx="31363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快速演示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435254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7161A"/>
                </a:solidFill>
                <a:latin typeface="Cascadia Mono"/>
                <a:ea typeface="HarmonyOS Sans SC"/>
              </a:rPr>
              <a:t>python scripts/demo.py --small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85632" y="4663440"/>
            <a:ext cx="3136392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4809744"/>
            <a:ext cx="31363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8A8175"/>
                </a:solidFill>
                <a:latin typeface="HarmonyOS Sans SC"/>
                <a:ea typeface="HarmonyOS Sans SC"/>
              </a:rPr>
              <a:t>接口文档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5029200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7161A"/>
                </a:solidFill>
                <a:latin typeface="Cascadia Mono"/>
                <a:ea typeface="HarmonyOS Sans SC"/>
              </a:rPr>
              <a:t>/docs（Swagger UI）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85632" y="5340096"/>
            <a:ext cx="3136392" cy="12801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85632" y="5522976"/>
            <a:ext cx="3136392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5669279"/>
            <a:ext cx="31363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HarmonyOS Sans SC"/>
                <a:ea typeface="HarmonyOS Sans SC"/>
              </a:rPr>
              <a:t>42 项测试全部通过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B6660"/>
                </a:solidFill>
                <a:latin typeface="HarmonyOS Sans SC"/>
                <a:ea typeface="HarmonyOS Sans SC"/>
              </a:rPr>
              <a:t>单元 + 集成 + 端到端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所有数据由 Mock 系统按固定种子生成，同一命令可完整复现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1055096" cy="16459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6949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8A8175"/>
                </a:solidFill>
                <a:latin typeface="Cascadia Mono"/>
                <a:ea typeface="HarmonyOS Sans SC"/>
              </a:rPr>
              <a:t>落地 /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"/>
            <a:ext cx="11055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7161A"/>
                </a:solidFill>
                <a:latin typeface="Cascadia Mono"/>
                <a:ea typeface="HarmonyOS Sans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>
                <a:solidFill>
                  <a:srgbClr val="17161A"/>
                </a:solidFill>
                <a:latin typeface="Noto Serif SC"/>
                <a:ea typeface="HarmonyOS Sans SC"/>
              </a:rPr>
              <a:t>三种部署方式任选，本地零配置可跑通全链路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B6660"/>
                </a:solidFill>
                <a:latin typeface="HarmonyOS Sans SC"/>
                <a:ea typeface="HarmonyOS Sans SC"/>
              </a:rPr>
              <a:t>首次启动自动安装依赖并生成演示数据，约 1 分钟；在线只读预览供外部查看。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22576"/>
            <a:ext cx="11055096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511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7161A"/>
                </a:solidFill>
                <a:latin typeface="Noto Serif SC"/>
                <a:ea typeface="HarmonyOS Sans SC"/>
              </a:rPr>
              <a:t>一键脚本（推荐）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26080"/>
            <a:ext cx="3511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Cascadia Mono"/>
                <a:ea typeface="HarmonyOS Sans SC"/>
              </a:rPr>
              <a:t>scripts\start.bat / bash scripts/start.sh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39312"/>
            <a:ext cx="3511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首次自动生成数据，适合演示与快速体验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78224" y="2487168"/>
            <a:ext cx="12801" cy="192024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487168"/>
            <a:ext cx="3511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7161A"/>
                </a:solidFill>
                <a:latin typeface="Noto Serif SC"/>
                <a:ea typeface="HarmonyOS Sans SC"/>
              </a:rPr>
              <a:t>容器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926080"/>
            <a:ext cx="3511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Cascadia Mono"/>
                <a:ea typeface="HarmonyOS Sans SC"/>
              </a:rPr>
              <a:t>docker compose up --build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3639312"/>
            <a:ext cx="3511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适用于容器化环境与 CI，无需本机 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90687" y="2487168"/>
            <a:ext cx="12801" cy="192024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5" y="2487168"/>
            <a:ext cx="3511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17161A"/>
                </a:solidFill>
                <a:latin typeface="Noto Serif SC"/>
                <a:ea typeface="HarmonyOS Sans SC"/>
              </a:rPr>
              <a:t>手动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5" y="2926080"/>
            <a:ext cx="3511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Cascadia Mono"/>
                <a:ea typeface="HarmonyOS Sans SC"/>
              </a:rPr>
              <a:t>pip install -r backend/requirements.txt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5" y="3639312"/>
            <a:ext cx="3511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6B6660"/>
                </a:solidFill>
                <a:latin typeface="HarmonyOS Sans SC"/>
                <a:ea typeface="HarmonyOS Sans SC"/>
              </a:rPr>
              <a:t>便于二次开发，可指定数据规模与种子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443983"/>
            <a:ext cx="11055096" cy="1463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62686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7161A"/>
                </a:solidFill>
                <a:latin typeface="Noto Serif SC"/>
                <a:ea typeface="HarmonyOS Sans SC"/>
              </a:rPr>
              <a:t>三条典型使用路径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95604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首次体验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6816" y="4974336"/>
            <a:ext cx="9665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10 分钟跑通闭环：启动服务 → 运行 Agent → 核对证据链 → 处理一条高风险审批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50468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日常巡检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6816" y="5522975"/>
            <a:ext cx="9665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每天 5 分钟：总览看计数 → 异常按严重度处理 → 建议复核 ROI → 审计溯源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05332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7161A"/>
                </a:solidFill>
                <a:latin typeface="HarmonyOS Sans SC"/>
                <a:ea typeface="HarmonyOS Sans SC"/>
              </a:rPr>
              <a:t>对外演示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6816" y="6071616"/>
            <a:ext cx="96652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6660"/>
                </a:solidFill>
                <a:latin typeface="HarmonyOS Sans SC"/>
                <a:ea typeface="HarmonyOS Sans SC"/>
              </a:rPr>
              <a:t>先跑一次 Agent 让页面有真实数据，再用证据链与审计日志证明可核对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583679"/>
            <a:ext cx="11055096" cy="12801"/>
          </a:xfrm>
          <a:prstGeom prst="rect">
            <a:avLst/>
          </a:prstGeom>
          <a:solidFill>
            <a:srgbClr val="D9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HarmonyOS Sans SC"/>
                <a:ea typeface="HarmonyOS Sans SC"/>
              </a:rPr>
              <a:t>控制台 http://127.0.0.1:8300 ｜ 接口文档 /docs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B5AEA3"/>
                </a:solidFill>
                <a:latin typeface="Cascadia Mono"/>
                <a:ea typeface="HarmonyOS Sans SC"/>
              </a:rPr>
              <a:t>零售经营决策系统 · 产品介绍 V2.0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1133856"/>
            <a:ext cx="11055096" cy="18288"/>
          </a:xfrm>
          <a:prstGeom prst="rect">
            <a:avLst/>
          </a:prstGeom>
          <a:solidFill>
            <a:srgbClr val="4A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8A8175"/>
                </a:solidFill>
                <a:latin typeface="Cascadia Mono"/>
                <a:ea typeface="HarmonyOS Sans SC"/>
              </a:rPr>
              <a:t>RETAIL DECISION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8A8175"/>
                </a:solidFill>
                <a:latin typeface="Cascadia Mono"/>
                <a:ea typeface="HarmonyOS Sans SC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31136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SC"/>
                <a:ea typeface="HarmonyOS Sans SC"/>
              </a:rPr>
              <a:t>让每一次经营异常，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Noto Serif SC"/>
                <a:ea typeface="HarmonyOS Sans SC"/>
              </a:rPr>
              <a:t>都有人接得住。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4041648"/>
            <a:ext cx="1536192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31596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C9C2B8"/>
                </a:solidFill>
                <a:latin typeface="HarmonyOS Sans SC"/>
                <a:ea typeface="HarmonyOS Sans SC"/>
              </a:rPr>
              <a:t>自动发现 · 根因可查 · 建议可算 · 执行可控 · 全程可审计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389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8A8175"/>
                </a:solidFill>
                <a:latin typeface="HarmonyOS Sans SC"/>
                <a:ea typeface="HarmonyOS Sans SC"/>
              </a:rPr>
              <a:t>在线预览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5138928"/>
            <a:ext cx="9592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C9C2B8"/>
                </a:solidFill>
                <a:latin typeface="Cascadia Mono"/>
                <a:ea typeface="HarmonyOS Sans SC"/>
              </a:rPr>
              <a:t>https://shenyuanyuan77.github.io/retail-decision-agent/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4126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8A8175"/>
                </a:solidFill>
                <a:latin typeface="HarmonyOS Sans SC"/>
                <a:ea typeface="HarmonyOS Sans SC"/>
              </a:rPr>
              <a:t>代码仓库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5541264"/>
            <a:ext cx="9592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C9C2B8"/>
                </a:solidFill>
                <a:latin typeface="Cascadia Mono"/>
                <a:ea typeface="HarmonyOS Sans SC"/>
              </a:rPr>
              <a:t>https://github.com/shenyuanyuan77/retail-decision-agent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9436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8A8175"/>
                </a:solidFill>
                <a:latin typeface="HarmonyOS Sans SC"/>
                <a:ea typeface="HarmonyOS Sans SC"/>
              </a:rPr>
              <a:t>本地启动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5943600"/>
            <a:ext cx="9592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C9C2B8"/>
                </a:solidFill>
                <a:latin typeface="Cascadia Mono"/>
                <a:ea typeface="HarmonyOS Sans SC"/>
              </a:rPr>
              <a:t>scripts\start.bat（Windows） / bash scripts/start.sh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